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Open value, 2014-2017 (top 12 stocks)</c:v>
                </c:pt>
              </c:strCache>
            </c:strRef>
          </c:tx>
          <c:spPr>
            <a:solidFill>
              <a:srgbClr val="4A7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SHW</c:v>
                  </c:pt>
                  <c:pt idx="1">
                    <c:v>EQIX</c:v>
                  </c:pt>
                  <c:pt idx="2">
                    <c:v>BIIB</c:v>
                  </c:pt>
                  <c:pt idx="3">
                    <c:v>BLK</c:v>
                  </c:pt>
                  <c:pt idx="4">
                    <c:v>MTD</c:v>
                  </c:pt>
                  <c:pt idx="5">
                    <c:v>REGN</c:v>
                  </c:pt>
                  <c:pt idx="6">
                    <c:v>CMG</c:v>
                  </c:pt>
                  <c:pt idx="7">
                    <c:v>AMZN</c:v>
                  </c:pt>
                  <c:pt idx="8">
                    <c:v>AZO</c:v>
                  </c:pt>
                  <c:pt idx="9">
                    <c:v>GOOG</c:v>
                  </c:pt>
                  <c:pt idx="10">
                    <c:v>GOOGL</c:v>
                  </c:pt>
                  <c:pt idx="11">
                    <c:v>PCLN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277861</c:v>
                </c:pt>
                <c:pt idx="1">
                  <c:v>311121</c:v>
                </c:pt>
                <c:pt idx="2">
                  <c:v>312887</c:v>
                </c:pt>
                <c:pt idx="3">
                  <c:v>362459</c:v>
                </c:pt>
                <c:pt idx="4">
                  <c:v>380334</c:v>
                </c:pt>
                <c:pt idx="5">
                  <c:v>414810</c:v>
                </c:pt>
                <c:pt idx="6">
                  <c:v>520689</c:v>
                </c:pt>
                <c:pt idx="7">
                  <c:v>623723</c:v>
                </c:pt>
                <c:pt idx="8">
                  <c:v>664924</c:v>
                </c:pt>
                <c:pt idx="9">
                  <c:v>678075</c:v>
                </c:pt>
                <c:pt idx="10">
                  <c:v>727879</c:v>
                </c:pt>
                <c:pt idx="11">
                  <c:v>1399915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High value, 2014-2017 (top 12 stocks)</c:v>
                </c:pt>
              </c:strCache>
            </c:strRef>
          </c:tx>
          <c:spPr>
            <a:solidFill>
              <a:srgbClr val="4A7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SHW</c:v>
                  </c:pt>
                  <c:pt idx="1">
                    <c:v>EQIX</c:v>
                  </c:pt>
                  <c:pt idx="2">
                    <c:v>BIIB</c:v>
                  </c:pt>
                  <c:pt idx="3">
                    <c:v>BLK</c:v>
                  </c:pt>
                  <c:pt idx="4">
                    <c:v>MTD</c:v>
                  </c:pt>
                  <c:pt idx="5">
                    <c:v>REGN</c:v>
                  </c:pt>
                  <c:pt idx="6">
                    <c:v>CMG</c:v>
                  </c:pt>
                  <c:pt idx="7">
                    <c:v>AMZN</c:v>
                  </c:pt>
                  <c:pt idx="8">
                    <c:v>AZO</c:v>
                  </c:pt>
                  <c:pt idx="9">
                    <c:v>GOOG</c:v>
                  </c:pt>
                  <c:pt idx="10">
                    <c:v>GOOGL</c:v>
                  </c:pt>
                  <c:pt idx="11">
                    <c:v>PCLN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280095</c:v>
                </c:pt>
                <c:pt idx="1">
                  <c:v>314088</c:v>
                </c:pt>
                <c:pt idx="2">
                  <c:v>316729</c:v>
                </c:pt>
                <c:pt idx="3">
                  <c:v>365329</c:v>
                </c:pt>
                <c:pt idx="4">
                  <c:v>383637</c:v>
                </c:pt>
                <c:pt idx="5">
                  <c:v>420812</c:v>
                </c:pt>
                <c:pt idx="6">
                  <c:v>526310</c:v>
                </c:pt>
                <c:pt idx="7">
                  <c:v>628985</c:v>
                </c:pt>
                <c:pt idx="8">
                  <c:v>670536</c:v>
                </c:pt>
                <c:pt idx="9">
                  <c:v>683130</c:v>
                </c:pt>
                <c:pt idx="10">
                  <c:v>733189</c:v>
                </c:pt>
                <c:pt idx="11">
                  <c:v>1412001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Low value, 2014-2017 (top 12 stocks)</c:v>
                </c:pt>
              </c:strCache>
            </c:strRef>
          </c:tx>
          <c:spPr>
            <a:solidFill>
              <a:srgbClr val="4A7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SHW</c:v>
                  </c:pt>
                  <c:pt idx="1">
                    <c:v>EQIX</c:v>
                  </c:pt>
                  <c:pt idx="2">
                    <c:v>BIIB</c:v>
                  </c:pt>
                  <c:pt idx="3">
                    <c:v>BLK</c:v>
                  </c:pt>
                  <c:pt idx="4">
                    <c:v>MTD</c:v>
                  </c:pt>
                  <c:pt idx="5">
                    <c:v>REGN</c:v>
                  </c:pt>
                  <c:pt idx="6">
                    <c:v>CMG</c:v>
                  </c:pt>
                  <c:pt idx="7">
                    <c:v>AMZN</c:v>
                  </c:pt>
                  <c:pt idx="8">
                    <c:v>AZO</c:v>
                  </c:pt>
                  <c:pt idx="9">
                    <c:v>GOOG</c:v>
                  </c:pt>
                  <c:pt idx="10">
                    <c:v>GOOGL</c:v>
                  </c:pt>
                  <c:pt idx="11">
                    <c:v>PCLN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275725</c:v>
                </c:pt>
                <c:pt idx="1">
                  <c:v>308106</c:v>
                </c:pt>
                <c:pt idx="2">
                  <c:v>308658</c:v>
                </c:pt>
                <c:pt idx="3">
                  <c:v>359460</c:v>
                </c:pt>
                <c:pt idx="4">
                  <c:v>377120</c:v>
                </c:pt>
                <c:pt idx="5">
                  <c:v>408432</c:v>
                </c:pt>
                <c:pt idx="6">
                  <c:v>514997</c:v>
                </c:pt>
                <c:pt idx="7">
                  <c:v>617645</c:v>
                </c:pt>
                <c:pt idx="8">
                  <c:v>659105</c:v>
                </c:pt>
                <c:pt idx="9">
                  <c:v>672547</c:v>
                </c:pt>
                <c:pt idx="10">
                  <c:v>721676</c:v>
                </c:pt>
                <c:pt idx="11">
                  <c:v>1387067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Close value, 2014-2017 (top 12 stocks)</c:v>
                </c:pt>
              </c:strCache>
            </c:strRef>
          </c:tx>
          <c:spPr>
            <a:solidFill>
              <a:srgbClr val="4A7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SHW</c:v>
                  </c:pt>
                  <c:pt idx="1">
                    <c:v>EQIX</c:v>
                  </c:pt>
                  <c:pt idx="2">
                    <c:v>BIIB</c:v>
                  </c:pt>
                  <c:pt idx="3">
                    <c:v>BLK</c:v>
                  </c:pt>
                  <c:pt idx="4">
                    <c:v>MTD</c:v>
                  </c:pt>
                  <c:pt idx="5">
                    <c:v>REGN</c:v>
                  </c:pt>
                  <c:pt idx="6">
                    <c:v>CMG</c:v>
                  </c:pt>
                  <c:pt idx="7">
                    <c:v>AMZN</c:v>
                  </c:pt>
                  <c:pt idx="8">
                    <c:v>AZO</c:v>
                  </c:pt>
                  <c:pt idx="9">
                    <c:v>GOOG</c:v>
                  </c:pt>
                  <c:pt idx="10">
                    <c:v>GOOGL</c:v>
                  </c:pt>
                  <c:pt idx="11">
                    <c:v>PCLN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278029</c:v>
                </c:pt>
                <c:pt idx="1">
                  <c:v>311335</c:v>
                </c:pt>
                <c:pt idx="2">
                  <c:v>312648</c:v>
                </c:pt>
                <c:pt idx="3">
                  <c:v>362491</c:v>
                </c:pt>
                <c:pt idx="4">
                  <c:v>380499</c:v>
                </c:pt>
                <c:pt idx="5">
                  <c:v>415222</c:v>
                </c:pt>
                <c:pt idx="6">
                  <c:v>520467</c:v>
                </c:pt>
                <c:pt idx="7">
                  <c:v>623580</c:v>
                </c:pt>
                <c:pt idx="8">
                  <c:v>664868</c:v>
                </c:pt>
                <c:pt idx="9">
                  <c:v>678058</c:v>
                </c:pt>
                <c:pt idx="10">
                  <c:v>727617</c:v>
                </c:pt>
                <c:pt idx="11">
                  <c:v>1400005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Volume traded, 2014-2017 (top 4 stocks)</c:v>
                </c:pt>
              </c:strCache>
            </c:strRef>
          </c:tx>
          <c:spPr>
            <a:solidFill>
              <a:srgbClr val="4A7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AMD</c:v>
                  </c:pt>
                  <c:pt idx="1">
                    <c:v>GE</c:v>
                  </c:pt>
                  <c:pt idx="2">
                    <c:v>AAPL</c:v>
                  </c:pt>
                  <c:pt idx="3">
                    <c:v>BAC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33522535638</c:v>
                </c:pt>
                <c:pt idx="1">
                  <c:v>41734050117</c:v>
                </c:pt>
                <c:pt idx="2">
                  <c:v>45485758169</c:v>
                </c:pt>
                <c:pt idx="3">
                  <c:v>89988444028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Analysis 2014-2017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daily stock prices  |  September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holds daily prices (Open, High, Low, Close) and trading Volume for 505 S&amp;P 500 stocks from 2014 to 2017.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stock performs best overall, and how does each stock rank on price and on volume?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year-wise view is also needed to see which stock leads in each individual year.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 value, 2014-2017 (top 12 stocks)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85953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High value, 2014-2017 (top 12 stocks)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85953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Low value, 2014-2017 (top 12 stocks)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85953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Close value, 2014-2017 (top 12 stocks)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85953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 traded, 2014-2017 (top 4 stocks)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85953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PCLN ranks first on Open, High, Low and Close among all stocks, but this is because it has a very high share price, not because it grew the most. On Volume, PCLN does not appear in the top stocks at all — BAC leads there instead.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332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stock in the dataset performs better than the others, and how each stock ranks on price and volume.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was used for data cleaning and transformation, and Tableau was used for data visualization.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PCLN is top on Open, High, Low and Close because of its high share price, but it does not lead on Volume. BAC leads on Volume.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data-based view of which stock to consider depending on whether price level or trading volume matters more.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price level matters most to you, PCLN is the stock to consider — it is consistently at the top on Open, High, Low and Close.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trading volume / liquidity matters most, BAC is the stock to consider — it leads on Volume by a wide margin.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only runs through 2017, so it is a few years old; check more recent data before acting on this.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2026-09-25T07:00:53Z</dcterms:created>
  <dcterms:modified xsi:type="dcterms:W3CDTF">2026-09-25T07:00:53Z</dcterms:modified>
</cp:coreProperties>
</file>